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embeddedFontLst>
    <p:embeddedFont>
      <p:font typeface="Lora" pitchFamily="2" charset="77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  <p:embeddedFont>
      <p:font typeface="Source Sans Pro" panose="020B0503030403020204" pitchFamily="34" charset="0"/>
      <p:regular r:id="rId28"/>
      <p:bold r:id="rId29"/>
      <p: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8D72B1-0E5D-49B7-AD4A-D9FF875026B0}">
  <a:tblStyle styleId="{108D72B1-0E5D-49B7-AD4A-D9FF875026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8"/>
  </p:normalViewPr>
  <p:slideViewPr>
    <p:cSldViewPr snapToGrid="0">
      <p:cViewPr varScale="1">
        <p:scale>
          <a:sx n="158" d="100"/>
          <a:sy n="158" d="100"/>
        </p:scale>
        <p:origin x="26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89becd7ad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89becd7ad_1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9c51aafd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9c51aafd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9c51aafd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9c51aafd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dafaf6c17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dafaf6c17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36d0fcbe0_0_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36d0fcbe0_0_4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b74cbfb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b74cbfb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b74cbfb7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9b74cbfb7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36d0fcbe0_0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36d0fcbe0_0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b74cbfb72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b74cbfb72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dafaf6c17_1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dafaf6c17_1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d6f7d736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8d6f7d736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dafaf6c17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dafaf6c17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dafaf6c17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dafaf6c17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dafaf6c17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dafaf6c17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9c51aafd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89c51aafd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36d0fcbe0_0_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36d0fcbe0_0_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a66e5173d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7a66e5173d_3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90450" y="656425"/>
            <a:ext cx="8963100" cy="13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How to Prepare a Good Poster?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3701700" y="2030713"/>
            <a:ext cx="1740600" cy="57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88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JUNE 2, 2026</a:t>
            </a:r>
            <a:endParaRPr sz="1800"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58650" y="2759225"/>
            <a:ext cx="5334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“The more strikingly visual your presentation is, the more people will remember it. And more importantly, they will remember you.”</a:t>
            </a:r>
            <a:br>
              <a:rPr lang="en" sz="2000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</a:br>
            <a:endParaRPr sz="2000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- Paul Arden</a:t>
            </a:r>
            <a:endParaRPr sz="2000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88" name="Google Shape;88;p13" title="MAA_Logo-CoreBlu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9924" y="4027523"/>
            <a:ext cx="1689826" cy="85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slu-primary-blue-rg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64741" y="3765000"/>
            <a:ext cx="959330" cy="12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body" idx="1"/>
          </p:nvPr>
        </p:nvSpPr>
        <p:spPr>
          <a:xfrm>
            <a:off x="246000" y="1422300"/>
            <a:ext cx="8652000" cy="229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b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A poster is a visual and textual presentation</a:t>
            </a: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 that summarizes a research project, idea, or topic on a single large sheet.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It combines: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Text, 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Graphics/Pictures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Structure to communicate the essence of your work quickly and clearly.</a:t>
            </a:r>
            <a:endParaRPr b="1" i="1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798600" y="203200"/>
            <a:ext cx="7546800" cy="6678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394DC3"/>
              </a:gs>
              <a:gs pos="100000">
                <a:srgbClr val="20285A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700" b="1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is a Poster?</a:t>
            </a:r>
            <a:endParaRPr sz="2700"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body" idx="1"/>
          </p:nvPr>
        </p:nvSpPr>
        <p:spPr>
          <a:xfrm>
            <a:off x="241950" y="1050075"/>
            <a:ext cx="8660100" cy="26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798600" y="286725"/>
            <a:ext cx="7546800" cy="6678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394DC3"/>
              </a:gs>
              <a:gs pos="100000">
                <a:srgbClr val="20285A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400" b="1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Poster vs Talk </a:t>
            </a:r>
            <a:endParaRPr sz="2400"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102" name="Google Shape;102;p15"/>
          <p:cNvGraphicFramePr/>
          <p:nvPr/>
        </p:nvGraphicFramePr>
        <p:xfrm>
          <a:off x="957175" y="1711513"/>
          <a:ext cx="7229650" cy="1720475"/>
        </p:xfrm>
        <a:graphic>
          <a:graphicData uri="http://schemas.openxmlformats.org/drawingml/2006/table">
            <a:tbl>
              <a:tblPr>
                <a:noFill/>
                <a:tableStyleId>{108D72B1-0E5D-49B7-AD4A-D9FF875026B0}</a:tableStyleId>
              </a:tblPr>
              <a:tblGrid>
                <a:gridCol w="361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7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Poster</a:t>
                      </a:r>
                      <a:endParaRPr sz="1800" b="1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394DC3"/>
                        </a:gs>
                        <a:gs pos="100000">
                          <a:srgbClr val="20285A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Talk</a:t>
                      </a:r>
                      <a:endParaRPr sz="1800" b="1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394DC3"/>
                        </a:gs>
                        <a:gs pos="100000">
                          <a:srgbClr val="20285A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2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800">
                          <a:solidFill>
                            <a:srgbClr val="1B1B1B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spatial, self-paced, and </a:t>
                      </a:r>
                      <a:r>
                        <a:rPr lang="en" sz="1800" i="1">
                          <a:solidFill>
                            <a:srgbClr val="1B1B1B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interactive</a:t>
                      </a:r>
                      <a:endParaRPr sz="1800">
                        <a:solidFill>
                          <a:srgbClr val="1B1B1B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ora"/>
                          <a:ea typeface="Lora"/>
                          <a:cs typeface="Lora"/>
                          <a:sym typeface="Lora"/>
                        </a:rPr>
                        <a:t>sequential, time-based explanation</a:t>
                      </a:r>
                      <a:endParaRPr sz="18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body" idx="1"/>
          </p:nvPr>
        </p:nvSpPr>
        <p:spPr>
          <a:xfrm>
            <a:off x="246000" y="1669500"/>
            <a:ext cx="8652000" cy="22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Partition poster into well-defined sections.</a:t>
            </a:r>
            <a:endParaRPr sz="2200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B1B1B"/>
              </a:buClr>
              <a:buSzPts val="1600"/>
              <a:buFont typeface="Lora"/>
              <a:buChar char="●"/>
            </a:pPr>
            <a:r>
              <a:rPr lang="en" sz="1600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Content determines structure.</a:t>
            </a:r>
            <a:endParaRPr sz="1600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600"/>
              <a:buFont typeface="Lora"/>
              <a:buChar char="●"/>
            </a:pPr>
            <a:r>
              <a:rPr lang="en" sz="1600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Flow from top to bottom, left to right.</a:t>
            </a:r>
            <a:endParaRPr sz="1600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600"/>
              <a:buFont typeface="Lora"/>
              <a:buChar char="●"/>
            </a:pPr>
            <a:r>
              <a:rPr lang="en" sz="1600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Common structure: Intro -&gt; Background -&gt; Results -&gt; Discussion/Future Research</a:t>
            </a:r>
            <a:endParaRPr sz="1600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600"/>
              <a:buFont typeface="Lora"/>
              <a:buChar char="●"/>
            </a:pPr>
            <a:r>
              <a:rPr lang="en" sz="1600" i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Abstract is not necessary for poster</a:t>
            </a:r>
            <a:endParaRPr sz="1600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798600" y="203200"/>
            <a:ext cx="7546800" cy="6678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394DC3"/>
              </a:gs>
              <a:gs pos="100000">
                <a:srgbClr val="20285A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700" b="1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Structure and Design</a:t>
            </a:r>
            <a:endParaRPr sz="2700"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body" idx="1"/>
          </p:nvPr>
        </p:nvSpPr>
        <p:spPr>
          <a:xfrm>
            <a:off x="246000" y="1015875"/>
            <a:ext cx="8652000" cy="32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 b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Title: </a:t>
            </a: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Clear and Descriptive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 b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Introduction/Motivation:</a:t>
            </a: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 Why does this topic matter? What question(s) are you askings? 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 b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Data:</a:t>
            </a: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 Where did the data come from? How many observations/variables? 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 b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Methods:</a:t>
            </a: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 What analysis did you run in R? (e.g. regression, visualization, clustering)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 b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Results:</a:t>
            </a: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 Your key findings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 b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References:</a:t>
            </a: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 Credit your data source and any tools you used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 b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Acknowledgements:</a:t>
            </a: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 Credit your mentors and anyone else you would like to thank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798600" y="203200"/>
            <a:ext cx="7546800" cy="6678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394DC3"/>
              </a:gs>
              <a:gs pos="100000">
                <a:srgbClr val="20285A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700" b="1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Recommended Poster Sections</a:t>
            </a:r>
            <a:endParaRPr sz="2700"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>
            <a:spLocks noGrp="1"/>
          </p:cNvSpPr>
          <p:nvPr>
            <p:ph type="body" idx="1"/>
          </p:nvPr>
        </p:nvSpPr>
        <p:spPr>
          <a:xfrm>
            <a:off x="246000" y="1452200"/>
            <a:ext cx="8652000" cy="228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From up close or afar, the poster should be inviting.</a:t>
            </a:r>
            <a:endParaRPr sz="2200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 sz="1800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Avoid excessive text. </a:t>
            </a:r>
            <a:endParaRPr sz="1800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 sz="1800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Aim for approximately 20% text, 40% visuals, and 40% empty space.</a:t>
            </a:r>
            <a:endParaRPr sz="1800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 sz="1800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Nothing wrong with a little white space. Break up text with figures, pictures and equations.</a:t>
            </a:r>
            <a:endParaRPr sz="1800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 sz="1800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Use short blocks of text or bullet points. </a:t>
            </a:r>
            <a:endParaRPr sz="1800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798600" y="203200"/>
            <a:ext cx="7546800" cy="6678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394DC3"/>
              </a:gs>
              <a:gs pos="100000">
                <a:srgbClr val="20285A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700" b="1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Structure and Design</a:t>
            </a:r>
            <a:endParaRPr sz="2700"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246000" y="1014975"/>
            <a:ext cx="8652000" cy="286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Design for readability </a:t>
            </a:r>
            <a:endParaRPr sz="2200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Choose sans serif fonts like Arial or Verdana. (No more than two types).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Avoid switching fonts to highlight key points (</a:t>
            </a:r>
            <a:r>
              <a:rPr lang="en" b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bold</a:t>
            </a: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 or </a:t>
            </a:r>
            <a:r>
              <a:rPr lang="en" i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italics</a:t>
            </a: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).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Use high contrast between text and background (avoid red/green combinations). 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Use no more than 2-3 colors.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Make sure titles and headings stand out by using larger font sizes than the rest of the text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798600" y="203200"/>
            <a:ext cx="7546800" cy="6678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394DC3"/>
              </a:gs>
              <a:gs pos="100000">
                <a:srgbClr val="20285A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700" b="1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Structure and Design</a:t>
            </a:r>
            <a:endParaRPr sz="2700"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3072000" y="355715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Lora"/>
                <a:ea typeface="Lora"/>
                <a:cs typeface="Lora"/>
                <a:sym typeface="Lora"/>
              </a:rPr>
              <a:t>Title:</a:t>
            </a:r>
            <a:r>
              <a:rPr lang="en" sz="1600">
                <a:latin typeface="Lora"/>
                <a:ea typeface="Lora"/>
                <a:cs typeface="Lora"/>
                <a:sym typeface="Lora"/>
              </a:rPr>
              <a:t> 85 pt</a:t>
            </a:r>
            <a:endParaRPr sz="1600"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Lora"/>
                <a:ea typeface="Lora"/>
                <a:cs typeface="Lora"/>
                <a:sym typeface="Lora"/>
              </a:rPr>
              <a:t>Authors:</a:t>
            </a:r>
            <a:r>
              <a:rPr lang="en" sz="1600">
                <a:latin typeface="Lora"/>
                <a:ea typeface="Lora"/>
                <a:cs typeface="Lora"/>
                <a:sym typeface="Lora"/>
              </a:rPr>
              <a:t> 56 pt</a:t>
            </a:r>
            <a:endParaRPr sz="1600"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Lora"/>
                <a:ea typeface="Lora"/>
                <a:cs typeface="Lora"/>
                <a:sym typeface="Lora"/>
              </a:rPr>
              <a:t>Sub-headings: </a:t>
            </a:r>
            <a:r>
              <a:rPr lang="en" sz="1600">
                <a:latin typeface="Lora"/>
                <a:ea typeface="Lora"/>
                <a:cs typeface="Lora"/>
                <a:sym typeface="Lora"/>
              </a:rPr>
              <a:t>36 pt</a:t>
            </a:r>
            <a:endParaRPr sz="1600"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Lora"/>
                <a:ea typeface="Lora"/>
                <a:cs typeface="Lora"/>
                <a:sym typeface="Lora"/>
              </a:rPr>
              <a:t>Body text:</a:t>
            </a:r>
            <a:r>
              <a:rPr lang="en" sz="1600">
                <a:latin typeface="Lora"/>
                <a:ea typeface="Lora"/>
                <a:cs typeface="Lora"/>
                <a:sym typeface="Lora"/>
              </a:rPr>
              <a:t> 24 pt</a:t>
            </a:r>
            <a:endParaRPr sz="1600"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Lora"/>
                <a:ea typeface="Lora"/>
                <a:cs typeface="Lora"/>
                <a:sym typeface="Lora"/>
              </a:rPr>
              <a:t>Captions:</a:t>
            </a:r>
            <a:r>
              <a:rPr lang="en" sz="1600">
                <a:latin typeface="Lora"/>
                <a:ea typeface="Lora"/>
                <a:cs typeface="Lora"/>
                <a:sym typeface="Lora"/>
              </a:rPr>
              <a:t> 18 pt</a:t>
            </a:r>
            <a:endParaRPr sz="16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>
            <a:spLocks noGrp="1"/>
          </p:cNvSpPr>
          <p:nvPr>
            <p:ph type="body" idx="1"/>
          </p:nvPr>
        </p:nvSpPr>
        <p:spPr>
          <a:xfrm>
            <a:off x="246000" y="1453800"/>
            <a:ext cx="8652000" cy="223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Export directly from R, do not take screenshots (blurry when printed)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Export at high resolution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Make axis labels large enough to read from 3 feet away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Always label axes with clear names and units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Avoid red/green combinations 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798600" y="203200"/>
            <a:ext cx="7546800" cy="6678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394DC3"/>
              </a:gs>
              <a:gs pos="100000">
                <a:srgbClr val="20285A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700" b="1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Using R Visuals in Your Poster</a:t>
            </a:r>
            <a:endParaRPr sz="2700"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>
            <a:spLocks noGrp="1"/>
          </p:cNvSpPr>
          <p:nvPr>
            <p:ph type="body" idx="1"/>
          </p:nvPr>
        </p:nvSpPr>
        <p:spPr>
          <a:xfrm>
            <a:off x="246000" y="991825"/>
            <a:ext cx="8652000" cy="38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Which of the two presentations would you rather attend? Why?</a:t>
            </a: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798600" y="203200"/>
            <a:ext cx="7546800" cy="6678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394DC3"/>
              </a:gs>
              <a:gs pos="100000">
                <a:srgbClr val="20285A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700" b="1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First Impressions</a:t>
            </a:r>
            <a:endParaRPr sz="2700"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210075" y="1867750"/>
            <a:ext cx="17958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7348200" y="1984250"/>
            <a:ext cx="17958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8103177" y="3218275"/>
            <a:ext cx="122100" cy="179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43" name="Google Shape;143;p21" title="Screenshot 2025-10-20 at 14-59-12 How to Prepare a Good Poster_-3.pd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4675" y="1376875"/>
            <a:ext cx="7949324" cy="351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>
            <a:spLocks noGrp="1"/>
          </p:cNvSpPr>
          <p:nvPr>
            <p:ph type="body" idx="1"/>
          </p:nvPr>
        </p:nvSpPr>
        <p:spPr>
          <a:xfrm>
            <a:off x="246000" y="991825"/>
            <a:ext cx="5956200" cy="30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●</a:t>
            </a:r>
            <a:r>
              <a:rPr lang="en" sz="1600" b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Dimensions: </a:t>
            </a:r>
            <a:r>
              <a:rPr lang="en" sz="1600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48” wide x 36” tall (landscape orientation)</a:t>
            </a:r>
            <a:endParaRPr sz="1600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12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●</a:t>
            </a:r>
            <a:r>
              <a:rPr lang="en" sz="1600" b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Template: </a:t>
            </a:r>
            <a:r>
              <a:rPr lang="en" sz="1600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A PowerPoint poster template will be provided, do not change the dimensions</a:t>
            </a:r>
            <a:endParaRPr sz="1600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12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●</a:t>
            </a:r>
            <a:r>
              <a:rPr lang="en" sz="1600" b="1">
                <a:solidFill>
                  <a:srgbClr val="202124"/>
                </a:solidFill>
                <a:latin typeface="Lora"/>
                <a:ea typeface="Lora"/>
                <a:cs typeface="Lora"/>
                <a:sym typeface="Lora"/>
              </a:rPr>
              <a:t>Preparation Due Date: </a:t>
            </a:r>
            <a:r>
              <a:rPr lang="en" sz="1600">
                <a:solidFill>
                  <a:srgbClr val="202124"/>
                </a:solidFill>
                <a:latin typeface="Lora"/>
                <a:ea typeface="Lora"/>
                <a:cs typeface="Lora"/>
                <a:sym typeface="Lora"/>
              </a:rPr>
              <a:t>Make sure to prepare your posters by </a:t>
            </a:r>
            <a:r>
              <a:rPr lang="en" sz="16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Thursday, June 11th, 3PM</a:t>
            </a:r>
            <a:endParaRPr sz="1600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12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●</a:t>
            </a:r>
            <a:r>
              <a:rPr lang="en" sz="1600" b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Presentation date: </a:t>
            </a:r>
            <a:r>
              <a:rPr lang="en" sz="1600">
                <a:solidFill>
                  <a:srgbClr val="20212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" sz="16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Friday, June 12th, 1-2 PM</a:t>
            </a:r>
            <a:endParaRPr sz="1600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12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●</a:t>
            </a:r>
            <a:r>
              <a:rPr lang="en" sz="1600" b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Display: </a:t>
            </a:r>
            <a:r>
              <a:rPr lang="en" sz="1600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You will stand next to your poster and explain your work to audience</a:t>
            </a:r>
            <a:endParaRPr sz="1600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9" name="Google Shape;149;p22"/>
          <p:cNvSpPr/>
          <p:nvPr/>
        </p:nvSpPr>
        <p:spPr>
          <a:xfrm>
            <a:off x="798600" y="203200"/>
            <a:ext cx="7546800" cy="6678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394DC3"/>
              </a:gs>
              <a:gs pos="100000">
                <a:srgbClr val="20285A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700" b="1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Logistics</a:t>
            </a:r>
            <a:endParaRPr sz="2700"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50" name="Google Shape;150;p22" title="Poster Template QR.png"/>
          <p:cNvPicPr preferRelativeResize="0"/>
          <p:nvPr/>
        </p:nvPicPr>
        <p:blipFill rotWithShape="1">
          <a:blip r:embed="rId3">
            <a:alphaModFix/>
          </a:blip>
          <a:srcRect l="2345" r="2345"/>
          <a:stretch/>
        </p:blipFill>
        <p:spPr>
          <a:xfrm>
            <a:off x="6397825" y="1071300"/>
            <a:ext cx="2619625" cy="270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>
            <a:spLocks noGrp="1"/>
          </p:cNvSpPr>
          <p:nvPr>
            <p:ph type="body" idx="1"/>
          </p:nvPr>
        </p:nvSpPr>
        <p:spPr>
          <a:xfrm>
            <a:off x="241950" y="1050075"/>
            <a:ext cx="8660100" cy="38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For each of the following posters, ask yourself the following questions: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How does the</a:t>
            </a:r>
            <a:r>
              <a:rPr lang="en" b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structure</a:t>
            </a: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 help communicate the work? 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Lora"/>
              <a:buChar char="○"/>
            </a:pP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Are the sections well-defined?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Lora"/>
              <a:buChar char="○"/>
            </a:pP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Does the poster feel cluttered?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Lora"/>
              <a:buChar char="○"/>
            </a:pP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Are you interested in reading more after the initial glance?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Char char="●"/>
            </a:pP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Is the </a:t>
            </a:r>
            <a:r>
              <a:rPr lang="en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content</a:t>
            </a: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 effective?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Lora"/>
              <a:buChar char="○"/>
            </a:pP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What is the main subject of the poster?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Lora"/>
              <a:buChar char="○"/>
            </a:pP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Who is the intended audience for this poster? 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Lora"/>
              <a:buChar char="○"/>
            </a:pPr>
            <a:r>
              <a:rPr lang="en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Can the poster be easily summarized?</a:t>
            </a: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6" name="Google Shape;156;p23"/>
          <p:cNvSpPr/>
          <p:nvPr/>
        </p:nvSpPr>
        <p:spPr>
          <a:xfrm>
            <a:off x="798600" y="286725"/>
            <a:ext cx="7546800" cy="6678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394DC3"/>
              </a:gs>
              <a:gs pos="100000">
                <a:srgbClr val="20285A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700" b="1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Discussion Time</a:t>
            </a:r>
            <a:endParaRPr sz="2700"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4" title="uninspired_post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828" y="0"/>
            <a:ext cx="7186171" cy="5143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5" title="speegle capstone.png"/>
          <p:cNvPicPr preferRelativeResize="0"/>
          <p:nvPr/>
        </p:nvPicPr>
        <p:blipFill rotWithShape="1">
          <a:blip r:embed="rId3">
            <a:alphaModFix/>
          </a:blip>
          <a:srcRect l="1518" t="3197" r="1187" b="2783"/>
          <a:stretch/>
        </p:blipFill>
        <p:spPr>
          <a:xfrm>
            <a:off x="2151578" y="0"/>
            <a:ext cx="6992421" cy="5143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7" name="Google Shape;167;p25"/>
          <p:cNvSpPr/>
          <p:nvPr/>
        </p:nvSpPr>
        <p:spPr>
          <a:xfrm>
            <a:off x="3761225" y="247350"/>
            <a:ext cx="3688500" cy="33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6" title="Screenshot 2026-05-19 at 9.26.52 PM.png"/>
          <p:cNvPicPr preferRelativeResize="0"/>
          <p:nvPr/>
        </p:nvPicPr>
        <p:blipFill rotWithShape="1">
          <a:blip r:embed="rId3">
            <a:alphaModFix/>
          </a:blip>
          <a:srcRect l="6611" t="6835" r="7977" b="4857"/>
          <a:stretch/>
        </p:blipFill>
        <p:spPr>
          <a:xfrm>
            <a:off x="1973612" y="0"/>
            <a:ext cx="717038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>
            <a:spLocks noGrp="1"/>
          </p:cNvSpPr>
          <p:nvPr>
            <p:ph type="body" idx="1"/>
          </p:nvPr>
        </p:nvSpPr>
        <p:spPr>
          <a:xfrm>
            <a:off x="254950" y="1009525"/>
            <a:ext cx="8696700" cy="32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AutoNum type="arabicPeriod"/>
            </a:pPr>
            <a:r>
              <a:rPr lang="en" b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Focus on One Story</a:t>
            </a:r>
            <a:endParaRPr b="1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Communicate the path of discovery</a:t>
            </a:r>
            <a:endParaRPr i="1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AutoNum type="arabicPeriod"/>
            </a:pPr>
            <a:r>
              <a:rPr lang="en" b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Logical Structure</a:t>
            </a:r>
            <a:endParaRPr b="1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i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Title and Authors, Motivation &amp; Problem, Methods &amp; Key Ideas, Conclusion &amp; Perspectives, Acknowledgments, References</a:t>
            </a:r>
            <a:endParaRPr sz="1400" i="1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AutoNum type="arabicPeriod"/>
            </a:pPr>
            <a:r>
              <a:rPr lang="en" b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Visual Hierarchy &amp; Readability</a:t>
            </a:r>
            <a:br>
              <a:rPr lang="en" b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</a:br>
            <a:endParaRPr b="1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Lora"/>
              <a:buAutoNum type="arabicPeriod"/>
            </a:pPr>
            <a:r>
              <a:rPr lang="en" b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Mathematical Content</a:t>
            </a:r>
            <a:endParaRPr b="1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i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Show the idea or insight instead of all the algebra/calculation/theory</a:t>
            </a:r>
            <a:endParaRPr sz="1600" i="1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8" name="Google Shape;178;p27"/>
          <p:cNvSpPr/>
          <p:nvPr/>
        </p:nvSpPr>
        <p:spPr>
          <a:xfrm>
            <a:off x="798600" y="286725"/>
            <a:ext cx="7546800" cy="6678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394DC3"/>
              </a:gs>
              <a:gs pos="100000">
                <a:srgbClr val="20285A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700" b="1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Makes a Good Poster?</a:t>
            </a:r>
            <a:endParaRPr sz="2700"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>
            <a:spLocks noGrp="1"/>
          </p:cNvSpPr>
          <p:nvPr>
            <p:ph type="body" idx="1"/>
          </p:nvPr>
        </p:nvSpPr>
        <p:spPr>
          <a:xfrm>
            <a:off x="254950" y="1009525"/>
            <a:ext cx="8572800" cy="379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Structure your 60 seconds pitch like this:</a:t>
            </a:r>
            <a:endParaRPr sz="1600" b="1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30200" algn="l" rtl="0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600"/>
              <a:buFont typeface="Lora"/>
              <a:buChar char="●"/>
            </a:pPr>
            <a:r>
              <a:rPr lang="en" sz="16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Motivation:</a:t>
            </a:r>
            <a:r>
              <a:rPr lang="en" sz="1600" b="1">
                <a:solidFill>
                  <a:srgbClr val="20285A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" sz="1600" i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“We looked at [topic] because...”</a:t>
            </a:r>
            <a:endParaRPr sz="1600" i="1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ora"/>
              <a:buChar char="●"/>
            </a:pPr>
            <a:r>
              <a:rPr lang="en" sz="16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Question:</a:t>
            </a:r>
            <a:r>
              <a:rPr lang="en" sz="1600" b="1">
                <a:solidFill>
                  <a:srgbClr val="20285A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" sz="1600" i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“Our research question was...”</a:t>
            </a:r>
            <a:endParaRPr sz="1600" i="1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ora"/>
              <a:buChar char="●"/>
            </a:pPr>
            <a:r>
              <a:rPr lang="en" sz="16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you did: </a:t>
            </a:r>
            <a:r>
              <a:rPr lang="en" sz="1600" i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“Using R, we analyzed [dataset] and...”</a:t>
            </a:r>
            <a:endParaRPr sz="1600" i="1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ora"/>
              <a:buChar char="●"/>
            </a:pPr>
            <a:r>
              <a:rPr lang="en" sz="16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you found: </a:t>
            </a:r>
            <a:r>
              <a:rPr lang="en" sz="1600" i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“The most interesting finding was...”</a:t>
            </a:r>
            <a:endParaRPr sz="1600" i="1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ora"/>
              <a:buChar char="●"/>
            </a:pPr>
            <a:r>
              <a:rPr lang="en" sz="16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Why it matters: </a:t>
            </a:r>
            <a:r>
              <a:rPr lang="en" sz="1600" i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“This could mean that...”</a:t>
            </a:r>
            <a:endParaRPr sz="1600" i="1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Tips:</a:t>
            </a:r>
            <a:endParaRPr sz="1600" b="1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600"/>
              <a:buFont typeface="Lora"/>
              <a:buChar char="●"/>
            </a:pPr>
            <a:r>
              <a:rPr lang="en" sz="1600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Make eye contact! Don’t just read off the poster</a:t>
            </a:r>
            <a:endParaRPr sz="1600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600"/>
              <a:buFont typeface="Lora"/>
              <a:buChar char="●"/>
            </a:pPr>
            <a:r>
              <a:rPr lang="en" sz="1600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Point to your visuals as you talk through results. But do not block the poster the whole time</a:t>
            </a:r>
            <a:endParaRPr sz="1600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600"/>
              <a:buFont typeface="Lora"/>
              <a:buChar char="●"/>
            </a:pPr>
            <a:r>
              <a:rPr lang="en" sz="1600">
                <a:solidFill>
                  <a:srgbClr val="1B1B1B"/>
                </a:solidFill>
                <a:latin typeface="Lora"/>
                <a:ea typeface="Lora"/>
                <a:cs typeface="Lora"/>
                <a:sym typeface="Lora"/>
              </a:rPr>
              <a:t>Practice out loud at least twice before the event</a:t>
            </a:r>
            <a:endParaRPr b="1">
              <a:solidFill>
                <a:srgbClr val="1B1B1B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4" name="Google Shape;184;p28"/>
          <p:cNvSpPr/>
          <p:nvPr/>
        </p:nvSpPr>
        <p:spPr>
          <a:xfrm>
            <a:off x="798600" y="286725"/>
            <a:ext cx="7546800" cy="6678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394DC3"/>
              </a:gs>
              <a:gs pos="100000">
                <a:srgbClr val="20285A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700" b="1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Presenting Your Poster</a:t>
            </a:r>
            <a:endParaRPr sz="2700"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>
            <a:spLocks noGrp="1"/>
          </p:cNvSpPr>
          <p:nvPr>
            <p:ph type="body" idx="2"/>
          </p:nvPr>
        </p:nvSpPr>
        <p:spPr>
          <a:xfrm>
            <a:off x="4977150" y="151875"/>
            <a:ext cx="3837000" cy="12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200"/>
              <a:t>Thank You!</a:t>
            </a:r>
            <a:endParaRPr sz="6200"/>
          </a:p>
        </p:txBody>
      </p:sp>
      <p:pic>
        <p:nvPicPr>
          <p:cNvPr id="190" name="Google Shape;190;p29" title="Poster Template QR.png"/>
          <p:cNvPicPr preferRelativeResize="0"/>
          <p:nvPr/>
        </p:nvPicPr>
        <p:blipFill rotWithShape="1">
          <a:blip r:embed="rId3">
            <a:alphaModFix/>
          </a:blip>
          <a:srcRect l="2345" r="2345"/>
          <a:stretch/>
        </p:blipFill>
        <p:spPr>
          <a:xfrm>
            <a:off x="165250" y="151875"/>
            <a:ext cx="4149073" cy="428562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9"/>
          <p:cNvSpPr txBox="1"/>
          <p:nvPr/>
        </p:nvSpPr>
        <p:spPr>
          <a:xfrm>
            <a:off x="165250" y="4489350"/>
            <a:ext cx="4149000" cy="4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Poster Template QR Code</a:t>
            </a:r>
            <a:endParaRPr sz="18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2" name="Google Shape;192;p29" descr="a penguin with a blue bandana on his head says i have several questions (Provided by Tenor)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0614" y="1286675"/>
            <a:ext cx="3050075" cy="305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780</Words>
  <Application>Microsoft Macintosh PowerPoint</Application>
  <PresentationFormat>On-screen Show (16:9)</PresentationFormat>
  <Paragraphs>93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Roboto</vt:lpstr>
      <vt:lpstr>Source Sans Pro</vt:lpstr>
      <vt:lpstr>Arial</vt:lpstr>
      <vt:lpstr>Lora</vt:lpstr>
      <vt:lpstr>Geometric</vt:lpstr>
      <vt:lpstr>How to Prepare a Good Poster?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Ozlem Ugurlu</cp:lastModifiedBy>
  <cp:revision>1</cp:revision>
  <dcterms:modified xsi:type="dcterms:W3CDTF">2026-06-02T17:16:59Z</dcterms:modified>
</cp:coreProperties>
</file>