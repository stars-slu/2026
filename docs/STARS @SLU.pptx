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layfair Display Italics" charset="1" panose="00000500000000000000"/>
      <p:regular r:id="rId19"/>
    </p:embeddedFont>
    <p:embeddedFont>
      <p:font typeface="Crimson Roman Bold" charset="1" panose="02000703000000000000"/>
      <p:regular r:id="rId20"/>
    </p:embeddedFont>
    <p:embeddedFont>
      <p:font typeface="Raleway Bold" charset="1" panose="020B0803030101060003"/>
      <p:regular r:id="rId21"/>
    </p:embeddedFont>
    <p:embeddedFont>
      <p:font typeface="TT Commons Pro" charset="1" panose="020B0103030102020204"/>
      <p:regular r:id="rId22"/>
    </p:embeddedFont>
    <p:embeddedFont>
      <p:font typeface="Kollektif" charset="1" panose="020B0604020101010102"/>
      <p:regular r:id="rId23"/>
    </p:embeddedFont>
    <p:embeddedFont>
      <p:font typeface="DM Sans Bold" charset="1" panose="00000000000000000000"/>
      <p:regular r:id="rId24"/>
    </p:embeddedFont>
    <p:embeddedFont>
      <p:font typeface="RoxboroughCF" charset="1" panose="00000500000000000000"/>
      <p:regular r:id="rId25"/>
    </p:embeddedFont>
    <p:embeddedFont>
      <p:font typeface="DM Sans" charset="1" panose="00000000000000000000"/>
      <p:regular r:id="rId26"/>
    </p:embeddedFont>
    <p:embeddedFont>
      <p:font typeface="Abril Fatface" charset="1" panose="02000503000000020003"/>
      <p:regular r:id="rId27"/>
    </p:embeddedFont>
    <p:embeddedFont>
      <p:font typeface="Crimson Roman" charset="1" panose="020305030604060203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644522"/>
            <a:ext cx="18360231" cy="1642478"/>
            <a:chOff x="0" y="0"/>
            <a:chExt cx="4835616" cy="432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35616" cy="432587"/>
            </a:xfrm>
            <a:custGeom>
              <a:avLst/>
              <a:gdLst/>
              <a:ahLst/>
              <a:cxnLst/>
              <a:rect r="r" b="b" t="t" l="l"/>
              <a:pathLst>
                <a:path h="432587" w="4835616">
                  <a:moveTo>
                    <a:pt x="0" y="0"/>
                  </a:moveTo>
                  <a:lnTo>
                    <a:pt x="4835616" y="0"/>
                  </a:lnTo>
                  <a:lnTo>
                    <a:pt x="4835616" y="432587"/>
                  </a:lnTo>
                  <a:lnTo>
                    <a:pt x="0" y="432587"/>
                  </a:lnTo>
                  <a:close/>
                </a:path>
              </a:pathLst>
            </a:custGeom>
            <a:solidFill>
              <a:srgbClr val="191B1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35616" cy="470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4572388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8840" y="257455"/>
            <a:ext cx="16230600" cy="186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3"/>
              </a:lnSpc>
            </a:pPr>
            <a:r>
              <a:rPr lang="en-US" sz="12801" i="true">
                <a:solidFill>
                  <a:srgbClr val="191919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Mental Health Matters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10674" y="2356522"/>
            <a:ext cx="9466652" cy="1422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5"/>
              </a:lnSpc>
            </a:pPr>
            <a:r>
              <a:rPr lang="en-US" b="true" sz="3799" spc="676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NAVIGATING YOUR WELLNESS JOURNEY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0140" y="9119305"/>
            <a:ext cx="8601788" cy="105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0"/>
              </a:lnSpc>
            </a:pPr>
            <a:r>
              <a:rPr lang="en-US" sz="3299" spc="587" b="true">
                <a:solidFill>
                  <a:srgbClr val="FFFFFF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Knieba Jones-Johnson, LMFT</a:t>
            </a:r>
          </a:p>
          <a:p>
            <a:pPr algn="l">
              <a:lnSpc>
                <a:spcPts val="3013"/>
              </a:lnSpc>
            </a:pPr>
            <a:r>
              <a:rPr lang="en-US" sz="2199" spc="391" b="true">
                <a:solidFill>
                  <a:srgbClr val="FFFFFF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Director - SLU University Counseling Center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3816690"/>
            <a:ext cx="18288000" cy="510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b="true" sz="2599" spc="462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STARS @SLU- JUNE 5</a:t>
            </a:r>
            <a:r>
              <a:rPr lang="en-US" b="true" sz="2599" spc="462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TH</a:t>
            </a:r>
            <a:r>
              <a:rPr lang="en-US" b="true" sz="2599" spc="462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7310247" y="4387252"/>
            <a:ext cx="81314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7310247" y="5625147"/>
            <a:ext cx="81314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7310247" y="6837396"/>
            <a:ext cx="81314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7310247" y="7901484"/>
            <a:ext cx="821100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0">
            <a:off x="7310247" y="8929746"/>
            <a:ext cx="81314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2981902" y="2426604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31" t="0" r="-14031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02434" y="389296"/>
            <a:ext cx="13763328" cy="2106658"/>
            <a:chOff x="0" y="0"/>
            <a:chExt cx="18351104" cy="280887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71450"/>
              <a:ext cx="18351104" cy="1779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</a:pPr>
              <a:r>
                <a:rPr lang="en-US" b="true" sz="9600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Common Myths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161177"/>
              <a:ext cx="1195866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584098" y="9253596"/>
            <a:ext cx="6702352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Going to therapy solves all mental health issues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84098" y="8202255"/>
            <a:ext cx="6702352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One should only seek help if things are severe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84098" y="5822649"/>
            <a:ext cx="6702352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Mental health problems develop because one isn’t trying hard enough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10247" y="3429404"/>
            <a:ext cx="960754" cy="70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10247" y="4558702"/>
            <a:ext cx="960754" cy="70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10247" y="5833539"/>
            <a:ext cx="960754" cy="70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10247" y="6955935"/>
            <a:ext cx="960754" cy="70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84098" y="7003560"/>
            <a:ext cx="6702352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Practicing self-care can resolve all mental health issues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10247" y="8015784"/>
            <a:ext cx="960754" cy="70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84098" y="3608077"/>
            <a:ext cx="6702352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Adolescents don’t have mental health issues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84098" y="4597577"/>
            <a:ext cx="6702352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Mental health challenges are a sign of weakness/being crazy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10247" y="9081512"/>
            <a:ext cx="960754" cy="70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1041" y="1206420"/>
            <a:ext cx="13763328" cy="2199867"/>
            <a:chOff x="0" y="0"/>
            <a:chExt cx="18351104" cy="293315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8351104" cy="1779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9600" b="tru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Current Trends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85456"/>
              <a:ext cx="1195866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rot="5400000">
            <a:off x="42711" y="5473927"/>
            <a:ext cx="2347135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400000">
            <a:off x="6418806" y="5473927"/>
            <a:ext cx="2347135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400000">
            <a:off x="3152290" y="5473927"/>
            <a:ext cx="2347135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400000">
            <a:off x="9827659" y="5473927"/>
            <a:ext cx="2347135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400000">
            <a:off x="13042416" y="5473927"/>
            <a:ext cx="2347135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25708" y="4305121"/>
            <a:ext cx="2703660" cy="2433495"/>
            <a:chOff x="0" y="0"/>
            <a:chExt cx="3604880" cy="324466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164401"/>
              <a:ext cx="360488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Adolescents reported symptoms of anxiety in the past two weeks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85725"/>
              <a:ext cx="1281006" cy="890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20%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30645" y="4305121"/>
            <a:ext cx="2703660" cy="3214545"/>
            <a:chOff x="0" y="0"/>
            <a:chExt cx="3604880" cy="428606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164401"/>
              <a:ext cx="3604880" cy="3121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High school students who reported persistent feelings of sadness or hopelessness in the past year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85725"/>
              <a:ext cx="1281006" cy="890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40%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49561" y="4289745"/>
            <a:ext cx="2703660" cy="3214545"/>
            <a:chOff x="0" y="0"/>
            <a:chExt cx="3604880" cy="428606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164401"/>
              <a:ext cx="3604880" cy="3121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High school students who reported seriously considering attempting suicide in the past year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85725"/>
              <a:ext cx="1281006" cy="890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20%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206014" y="4289745"/>
            <a:ext cx="2703660" cy="3078851"/>
            <a:chOff x="0" y="0"/>
            <a:chExt cx="3604880" cy="4105135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1153232"/>
              <a:ext cx="3604880" cy="2951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  <a:r>
                <a:rPr lang="en-US" sz="2300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Of U.S. adolescents reported discussing their mental and emotional health with a health care professional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-66675"/>
              <a:ext cx="1937080" cy="848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60"/>
                </a:lnSpc>
              </a:pPr>
              <a:r>
                <a:rPr lang="en-US" sz="3900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+55%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555640" y="4305121"/>
            <a:ext cx="2703660" cy="2433495"/>
            <a:chOff x="0" y="0"/>
            <a:chExt cx="3604880" cy="324466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1164401"/>
              <a:ext cx="360488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Adolescents who reported receiving mental health therapy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-85725"/>
              <a:ext cx="1281006" cy="890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20%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843548" y="7899829"/>
            <a:ext cx="14600903" cy="4488322"/>
          </a:xfrm>
          <a:custGeom>
            <a:avLst/>
            <a:gdLst/>
            <a:ahLst/>
            <a:cxnLst/>
            <a:rect r="r" b="b" t="t" l="l"/>
            <a:pathLst>
              <a:path h="4488322" w="14600903">
                <a:moveTo>
                  <a:pt x="0" y="0"/>
                </a:moveTo>
                <a:lnTo>
                  <a:pt x="14600904" y="0"/>
                </a:lnTo>
                <a:lnTo>
                  <a:pt x="14600904" y="4488322"/>
                </a:lnTo>
                <a:lnTo>
                  <a:pt x="0" y="4488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55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06150" y="1028700"/>
            <a:ext cx="5869699" cy="8229600"/>
          </a:xfrm>
          <a:custGeom>
            <a:avLst/>
            <a:gdLst/>
            <a:ahLst/>
            <a:cxnLst/>
            <a:rect r="r" b="b" t="t" l="l"/>
            <a:pathLst>
              <a:path h="8229600" w="5869699">
                <a:moveTo>
                  <a:pt x="0" y="0"/>
                </a:moveTo>
                <a:lnTo>
                  <a:pt x="5869700" y="0"/>
                </a:lnTo>
                <a:lnTo>
                  <a:pt x="58697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030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20711" y="1028700"/>
            <a:ext cx="5533748" cy="8229600"/>
          </a:xfrm>
          <a:custGeom>
            <a:avLst/>
            <a:gdLst/>
            <a:ahLst/>
            <a:cxnLst/>
            <a:rect r="r" b="b" t="t" l="l"/>
            <a:pathLst>
              <a:path h="8229600" w="5533748">
                <a:moveTo>
                  <a:pt x="0" y="0"/>
                </a:moveTo>
                <a:lnTo>
                  <a:pt x="5533748" y="0"/>
                </a:lnTo>
                <a:lnTo>
                  <a:pt x="55337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3074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62336" y="772569"/>
            <a:ext cx="13763328" cy="2199867"/>
            <a:chOff x="0" y="0"/>
            <a:chExt cx="18351104" cy="293315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8351104" cy="1779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</a:pPr>
              <a:r>
                <a:rPr lang="en-US" b="true" sz="9600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Current Trends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85456"/>
              <a:ext cx="1195866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405439" y="3296285"/>
            <a:ext cx="9477123" cy="184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Anxiety continues to be the most common presenting concern, with 64.9% of clients experiencing anxiety as assessed by clinicians. Relationship problem (specific) continued to show an upward trend as a top concern since 2020, while Trauma remained largely unchanged after reaching its highest level in 2022–2023.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86350" y="5848350"/>
            <a:ext cx="8115300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History of counseling continued to be the mental health history item with the largest 12-year increase: over 64% of students entered services with prior counseling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31038" y="7657465"/>
            <a:ext cx="8102705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</a:t>
            </a:r>
            <a:r>
              <a:rPr lang="en-US" sz="23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 2024–2025, the prevalence rates for histories of non-suicidal self-injury (29.2%) and suicide attempt(s) (11.3%) reached their highest levels since this data has been collected.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31038" y="2230760"/>
            <a:ext cx="8102705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Center for Collegiate Mental Health, Annual Report (2025)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7310247" y="4387252"/>
            <a:ext cx="81314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7310247" y="5625147"/>
            <a:ext cx="81314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7310247" y="6837396"/>
            <a:ext cx="81314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7310247" y="7901484"/>
            <a:ext cx="821100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0">
            <a:off x="7310247" y="8929746"/>
            <a:ext cx="81314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3042984" y="3008140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262336" y="389296"/>
            <a:ext cx="13763328" cy="2106658"/>
            <a:chOff x="0" y="0"/>
            <a:chExt cx="18351104" cy="280887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71450"/>
              <a:ext cx="18351104" cy="1779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</a:pPr>
              <a:r>
                <a:rPr lang="en-US" b="true" sz="9600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Factors and Influences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161177"/>
              <a:ext cx="1195866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584098" y="8144689"/>
            <a:ext cx="67023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Proliferation of Social Media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84098" y="4666000"/>
            <a:ext cx="67023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Political and Cultural Divisiveness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84098" y="5950854"/>
            <a:ext cx="67023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Global Pandemic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10247" y="3429404"/>
            <a:ext cx="960754" cy="70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10247" y="4558702"/>
            <a:ext cx="960754" cy="70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10247" y="5833539"/>
            <a:ext cx="960754" cy="70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10247" y="6955935"/>
            <a:ext cx="960754" cy="70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84098" y="7084840"/>
            <a:ext cx="67023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Perceived Connectivity of Technology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10247" y="8015784"/>
            <a:ext cx="960754" cy="70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84098" y="9210417"/>
            <a:ext cx="67023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Growing Inequities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84098" y="3559499"/>
            <a:ext cx="67023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Grind Culture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10247" y="9081512"/>
            <a:ext cx="960754" cy="70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375330" y="2756818"/>
            <a:ext cx="78839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9375330" y="4100686"/>
            <a:ext cx="78839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9375330" y="5932711"/>
            <a:ext cx="78839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9375330" y="7764735"/>
            <a:ext cx="78839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1649705"/>
            <a:ext cx="879882" cy="879882"/>
          </a:xfrm>
          <a:custGeom>
            <a:avLst/>
            <a:gdLst/>
            <a:ahLst/>
            <a:cxnLst/>
            <a:rect r="r" b="b" t="t" l="l"/>
            <a:pathLst>
              <a:path h="879882" w="879882">
                <a:moveTo>
                  <a:pt x="0" y="0"/>
                </a:moveTo>
                <a:lnTo>
                  <a:pt x="879882" y="0"/>
                </a:lnTo>
                <a:lnTo>
                  <a:pt x="879882" y="879883"/>
                </a:lnTo>
                <a:lnTo>
                  <a:pt x="0" y="879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3029882"/>
            <a:ext cx="879882" cy="879882"/>
          </a:xfrm>
          <a:custGeom>
            <a:avLst/>
            <a:gdLst/>
            <a:ahLst/>
            <a:cxnLst/>
            <a:rect r="r" b="b" t="t" l="l"/>
            <a:pathLst>
              <a:path h="879882" w="879882">
                <a:moveTo>
                  <a:pt x="0" y="0"/>
                </a:moveTo>
                <a:lnTo>
                  <a:pt x="879882" y="0"/>
                </a:lnTo>
                <a:lnTo>
                  <a:pt x="879882" y="879883"/>
                </a:lnTo>
                <a:lnTo>
                  <a:pt x="0" y="879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4617829"/>
            <a:ext cx="879882" cy="879882"/>
          </a:xfrm>
          <a:custGeom>
            <a:avLst/>
            <a:gdLst/>
            <a:ahLst/>
            <a:cxnLst/>
            <a:rect r="r" b="b" t="t" l="l"/>
            <a:pathLst>
              <a:path h="879882" w="879882">
                <a:moveTo>
                  <a:pt x="0" y="0"/>
                </a:moveTo>
                <a:lnTo>
                  <a:pt x="879882" y="0"/>
                </a:lnTo>
                <a:lnTo>
                  <a:pt x="879882" y="879882"/>
                </a:lnTo>
                <a:lnTo>
                  <a:pt x="0" y="879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6447061"/>
            <a:ext cx="879882" cy="879882"/>
          </a:xfrm>
          <a:custGeom>
            <a:avLst/>
            <a:gdLst/>
            <a:ahLst/>
            <a:cxnLst/>
            <a:rect r="r" b="b" t="t" l="l"/>
            <a:pathLst>
              <a:path h="879882" w="879882">
                <a:moveTo>
                  <a:pt x="0" y="0"/>
                </a:moveTo>
                <a:lnTo>
                  <a:pt x="879882" y="0"/>
                </a:lnTo>
                <a:lnTo>
                  <a:pt x="879882" y="879882"/>
                </a:lnTo>
                <a:lnTo>
                  <a:pt x="0" y="879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8126685"/>
            <a:ext cx="879882" cy="879882"/>
          </a:xfrm>
          <a:custGeom>
            <a:avLst/>
            <a:gdLst/>
            <a:ahLst/>
            <a:cxnLst/>
            <a:rect r="r" b="b" t="t" l="l"/>
            <a:pathLst>
              <a:path h="879882" w="879882">
                <a:moveTo>
                  <a:pt x="0" y="0"/>
                </a:moveTo>
                <a:lnTo>
                  <a:pt x="879882" y="0"/>
                </a:lnTo>
                <a:lnTo>
                  <a:pt x="879882" y="879882"/>
                </a:lnTo>
                <a:lnTo>
                  <a:pt x="0" y="879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4554152" y="3433515"/>
            <a:ext cx="11787082" cy="8229600"/>
          </a:xfrm>
          <a:custGeom>
            <a:avLst/>
            <a:gdLst/>
            <a:ahLst/>
            <a:cxnLst/>
            <a:rect r="r" b="b" t="t" l="l"/>
            <a:pathLst>
              <a:path h="8229600" w="11787082">
                <a:moveTo>
                  <a:pt x="0" y="0"/>
                </a:moveTo>
                <a:lnTo>
                  <a:pt x="11787082" y="0"/>
                </a:lnTo>
                <a:lnTo>
                  <a:pt x="117870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742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587352" y="1575297"/>
            <a:ext cx="6671948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Inconsistent attendance and/or performance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87352" y="2919165"/>
            <a:ext cx="6281128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Trouble communicating/expressing feelings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87352" y="4507111"/>
            <a:ext cx="6671948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Changes in hygiene/appearance/sleep/eating habits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87352" y="6586785"/>
            <a:ext cx="667194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Mood lability/dysregulation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87352" y="8174732"/>
            <a:ext cx="628112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Erratic and/or unpredictable behavior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7526" y="268580"/>
            <a:ext cx="6170621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Common Signs of Mental Health Challenges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87352" y="1822947"/>
            <a:ext cx="667194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Tearfulness/exhibiting clear distress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587352" y="3166815"/>
            <a:ext cx="628112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Extreme nervousness/excessive worry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87352" y="4754761"/>
            <a:ext cx="667194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Agitation/aggression/threats of violence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87352" y="6339135"/>
            <a:ext cx="6671948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Disconnection from reality/hallucinations/delusions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87352" y="8174732"/>
            <a:ext cx="628112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Suicidal ideation/statements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90875"/>
            <a:ext cx="6170621" cy="389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Common Signs of Mental Health Challenges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9375330" y="2756818"/>
            <a:ext cx="78839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9375330" y="4100686"/>
            <a:ext cx="78839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0">
            <a:off x="9375330" y="5932711"/>
            <a:ext cx="78839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0">
            <a:off x="9375330" y="7764735"/>
            <a:ext cx="78839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1649705"/>
            <a:ext cx="879882" cy="879882"/>
          </a:xfrm>
          <a:custGeom>
            <a:avLst/>
            <a:gdLst/>
            <a:ahLst/>
            <a:cxnLst/>
            <a:rect r="r" b="b" t="t" l="l"/>
            <a:pathLst>
              <a:path h="879882" w="879882">
                <a:moveTo>
                  <a:pt x="0" y="0"/>
                </a:moveTo>
                <a:lnTo>
                  <a:pt x="879882" y="0"/>
                </a:lnTo>
                <a:lnTo>
                  <a:pt x="879882" y="879883"/>
                </a:lnTo>
                <a:lnTo>
                  <a:pt x="0" y="879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2993573"/>
            <a:ext cx="879882" cy="879882"/>
          </a:xfrm>
          <a:custGeom>
            <a:avLst/>
            <a:gdLst/>
            <a:ahLst/>
            <a:cxnLst/>
            <a:rect r="r" b="b" t="t" l="l"/>
            <a:pathLst>
              <a:path h="879882" w="879882">
                <a:moveTo>
                  <a:pt x="0" y="0"/>
                </a:moveTo>
                <a:lnTo>
                  <a:pt x="879882" y="0"/>
                </a:lnTo>
                <a:lnTo>
                  <a:pt x="879882" y="879883"/>
                </a:lnTo>
                <a:lnTo>
                  <a:pt x="0" y="879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44000" y="4586103"/>
            <a:ext cx="879882" cy="879882"/>
          </a:xfrm>
          <a:custGeom>
            <a:avLst/>
            <a:gdLst/>
            <a:ahLst/>
            <a:cxnLst/>
            <a:rect r="r" b="b" t="t" l="l"/>
            <a:pathLst>
              <a:path h="879882" w="879882">
                <a:moveTo>
                  <a:pt x="0" y="0"/>
                </a:moveTo>
                <a:lnTo>
                  <a:pt x="879882" y="0"/>
                </a:lnTo>
                <a:lnTo>
                  <a:pt x="879882" y="879883"/>
                </a:lnTo>
                <a:lnTo>
                  <a:pt x="0" y="879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44000" y="6408961"/>
            <a:ext cx="879882" cy="879882"/>
          </a:xfrm>
          <a:custGeom>
            <a:avLst/>
            <a:gdLst/>
            <a:ahLst/>
            <a:cxnLst/>
            <a:rect r="r" b="b" t="t" l="l"/>
            <a:pathLst>
              <a:path h="879882" w="879882">
                <a:moveTo>
                  <a:pt x="0" y="0"/>
                </a:moveTo>
                <a:lnTo>
                  <a:pt x="879882" y="0"/>
                </a:lnTo>
                <a:lnTo>
                  <a:pt x="879882" y="879882"/>
                </a:lnTo>
                <a:lnTo>
                  <a:pt x="0" y="879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144000" y="8212832"/>
            <a:ext cx="879882" cy="879882"/>
          </a:xfrm>
          <a:custGeom>
            <a:avLst/>
            <a:gdLst/>
            <a:ahLst/>
            <a:cxnLst/>
            <a:rect r="r" b="b" t="t" l="l"/>
            <a:pathLst>
              <a:path h="879882" w="879882">
                <a:moveTo>
                  <a:pt x="0" y="0"/>
                </a:moveTo>
                <a:lnTo>
                  <a:pt x="879882" y="0"/>
                </a:lnTo>
                <a:lnTo>
                  <a:pt x="879882" y="879882"/>
                </a:lnTo>
                <a:lnTo>
                  <a:pt x="0" y="879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9600" y="515541"/>
            <a:ext cx="4718285" cy="9255919"/>
          </a:xfrm>
          <a:custGeom>
            <a:avLst/>
            <a:gdLst/>
            <a:ahLst/>
            <a:cxnLst/>
            <a:rect r="r" b="b" t="t" l="l"/>
            <a:pathLst>
              <a:path h="9255919" w="4718285">
                <a:moveTo>
                  <a:pt x="0" y="0"/>
                </a:moveTo>
                <a:lnTo>
                  <a:pt x="4718285" y="0"/>
                </a:lnTo>
                <a:lnTo>
                  <a:pt x="4718285" y="9255918"/>
                </a:lnTo>
                <a:lnTo>
                  <a:pt x="0" y="9255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512" r="-95718" b="-1651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69349" y="2112343"/>
            <a:ext cx="6895994" cy="1188489"/>
            <a:chOff x="0" y="0"/>
            <a:chExt cx="2378358" cy="409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8358" cy="409898"/>
            </a:xfrm>
            <a:custGeom>
              <a:avLst/>
              <a:gdLst/>
              <a:ahLst/>
              <a:cxnLst/>
              <a:rect r="r" b="b" t="t" l="l"/>
              <a:pathLst>
                <a:path h="409898" w="2378358">
                  <a:moveTo>
                    <a:pt x="0" y="0"/>
                  </a:moveTo>
                  <a:lnTo>
                    <a:pt x="2378358" y="0"/>
                  </a:lnTo>
                  <a:lnTo>
                    <a:pt x="2378358" y="409898"/>
                  </a:lnTo>
                  <a:lnTo>
                    <a:pt x="0" y="40989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69349" y="4549256"/>
            <a:ext cx="6895994" cy="1188489"/>
            <a:chOff x="0" y="0"/>
            <a:chExt cx="2378358" cy="4098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8358" cy="409898"/>
            </a:xfrm>
            <a:custGeom>
              <a:avLst/>
              <a:gdLst/>
              <a:ahLst/>
              <a:cxnLst/>
              <a:rect r="r" b="b" t="t" l="l"/>
              <a:pathLst>
                <a:path h="409898" w="2378358">
                  <a:moveTo>
                    <a:pt x="0" y="0"/>
                  </a:moveTo>
                  <a:lnTo>
                    <a:pt x="2378358" y="0"/>
                  </a:lnTo>
                  <a:lnTo>
                    <a:pt x="2378358" y="409898"/>
                  </a:lnTo>
                  <a:lnTo>
                    <a:pt x="0" y="40989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69349" y="6951332"/>
            <a:ext cx="6895994" cy="1188489"/>
            <a:chOff x="0" y="0"/>
            <a:chExt cx="2378358" cy="409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8358" cy="409898"/>
            </a:xfrm>
            <a:custGeom>
              <a:avLst/>
              <a:gdLst/>
              <a:ahLst/>
              <a:cxnLst/>
              <a:rect r="r" b="b" t="t" l="l"/>
              <a:pathLst>
                <a:path h="409898" w="2378358">
                  <a:moveTo>
                    <a:pt x="0" y="0"/>
                  </a:moveTo>
                  <a:lnTo>
                    <a:pt x="2378358" y="0"/>
                  </a:lnTo>
                  <a:lnTo>
                    <a:pt x="2378358" y="409898"/>
                  </a:lnTo>
                  <a:lnTo>
                    <a:pt x="0" y="40989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9" id="9"/>
          <p:cNvSpPr/>
          <p:nvPr/>
        </p:nvSpPr>
        <p:spPr>
          <a:xfrm>
            <a:off x="8665343" y="486966"/>
            <a:ext cx="5248866" cy="0"/>
          </a:xfrm>
          <a:prstGeom prst="line">
            <a:avLst/>
          </a:prstGeom>
          <a:ln cap="flat" w="57150">
            <a:solidFill>
              <a:srgbClr val="CEC7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7259300" y="-914400"/>
            <a:ext cx="5904826" cy="11582400"/>
            <a:chOff x="0" y="0"/>
            <a:chExt cx="1997435" cy="39179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97435" cy="3917997"/>
            </a:xfrm>
            <a:custGeom>
              <a:avLst/>
              <a:gdLst/>
              <a:ahLst/>
              <a:cxnLst/>
              <a:rect r="r" b="b" t="t" l="l"/>
              <a:pathLst>
                <a:path h="3917997" w="1997435">
                  <a:moveTo>
                    <a:pt x="0" y="0"/>
                  </a:moveTo>
                  <a:lnTo>
                    <a:pt x="1997435" y="0"/>
                  </a:lnTo>
                  <a:lnTo>
                    <a:pt x="1997435" y="3917997"/>
                  </a:lnTo>
                  <a:lnTo>
                    <a:pt x="0" y="391799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306364" y="2822882"/>
            <a:ext cx="8714578" cy="5092862"/>
          </a:xfrm>
          <a:custGeom>
            <a:avLst/>
            <a:gdLst/>
            <a:ahLst/>
            <a:cxnLst/>
            <a:rect r="r" b="b" t="t" l="l"/>
            <a:pathLst>
              <a:path h="5092862" w="8714578">
                <a:moveTo>
                  <a:pt x="0" y="0"/>
                </a:moveTo>
                <a:lnTo>
                  <a:pt x="8714578" y="0"/>
                </a:lnTo>
                <a:lnTo>
                  <a:pt x="8714578" y="5092862"/>
                </a:lnTo>
                <a:lnTo>
                  <a:pt x="0" y="5092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493" r="0" b="-2493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41023" y="2161656"/>
            <a:ext cx="5957620" cy="113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 spc="279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DIMENSIONS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36049" y="4564063"/>
            <a:ext cx="6362595" cy="113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 spc="279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OF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07723" y="6928621"/>
            <a:ext cx="5019246" cy="113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 spc="279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WELLNESS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9239" y="1140338"/>
            <a:ext cx="15669521" cy="4649415"/>
            <a:chOff x="0" y="0"/>
            <a:chExt cx="20892695" cy="619922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7746" r="0" b="27746"/>
            <a:stretch>
              <a:fillRect/>
            </a:stretch>
          </p:blipFill>
          <p:spPr>
            <a:xfrm flipH="false" flipV="false">
              <a:off x="0" y="0"/>
              <a:ext cx="20892695" cy="619922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0327126" y="7048500"/>
            <a:ext cx="6651635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"People committing to leveraging their privilege to be there for one another in various ways" - Nikita Valerio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0770" y="6162675"/>
            <a:ext cx="7764005" cy="310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Community Care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59295" y="2632272"/>
            <a:ext cx="9131069" cy="6640016"/>
            <a:chOff x="0" y="0"/>
            <a:chExt cx="12174759" cy="885335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66675"/>
              <a:ext cx="12174759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b="true" sz="3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Doing The Minimum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21501"/>
              <a:ext cx="12174759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b="true" sz="3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M.E.D.S. Rx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909677"/>
              <a:ext cx="12174759" cy="2955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Create the Day</a:t>
              </a:r>
            </a:p>
            <a:p>
              <a:pPr algn="l">
                <a:lnSpc>
                  <a:spcPts val="4479"/>
                </a:lnSpc>
              </a:pPr>
            </a:p>
            <a:p>
              <a:pPr algn="l">
                <a:lnSpc>
                  <a:spcPts val="4479"/>
                </a:lnSpc>
              </a:pPr>
            </a:p>
            <a:p>
              <a:pPr algn="l">
                <a:lnSpc>
                  <a:spcPts val="4479"/>
                </a:lnSpc>
              </a:pPr>
              <a:r>
                <a:rPr lang="en-US" b="true" sz="3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Habit Joining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145753"/>
              <a:ext cx="12174759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b="true" sz="3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Identify Your Sanctuary</a:t>
              </a:r>
            </a:p>
          </p:txBody>
        </p:sp>
      </p:grpSp>
      <p:sp>
        <p:nvSpPr>
          <p:cNvPr name="AutoShape 7" id="7"/>
          <p:cNvSpPr/>
          <p:nvPr/>
        </p:nvSpPr>
        <p:spPr>
          <a:xfrm rot="-10800000">
            <a:off x="5766097" y="1893896"/>
            <a:ext cx="11324267" cy="0"/>
          </a:xfrm>
          <a:prstGeom prst="line">
            <a:avLst/>
          </a:prstGeom>
          <a:ln cap="rnd" w="19050">
            <a:solidFill>
              <a:srgbClr val="EADE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197636" y="1236671"/>
            <a:ext cx="5796098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60"/>
              </a:lnSpc>
              <a:spcBef>
                <a:spcPct val="0"/>
              </a:spcBef>
            </a:pPr>
            <a:r>
              <a:rPr lang="en-US" sz="8800">
                <a:solidFill>
                  <a:srgbClr val="FFFFFF"/>
                </a:solidFill>
                <a:latin typeface="RoxboroughCF"/>
                <a:ea typeface="RoxboroughCF"/>
                <a:cs typeface="RoxboroughCF"/>
                <a:sym typeface="RoxboroughCF"/>
              </a:rPr>
              <a:t>Wellness Tips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2956" y="2333595"/>
            <a:ext cx="9131069" cy="6640016"/>
            <a:chOff x="0" y="0"/>
            <a:chExt cx="12174759" cy="885335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66675"/>
              <a:ext cx="12174759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Brain Dump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21501"/>
              <a:ext cx="12174759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Sensory Break/Sensory Stimulation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909677"/>
              <a:ext cx="12174759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Support Roster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897853"/>
              <a:ext cx="12174759" cy="2955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S.L.O.W. Down (Stop, Look, Observe, Wait)</a:t>
              </a:r>
            </a:p>
            <a:p>
              <a:pPr algn="l">
                <a:lnSpc>
                  <a:spcPts val="4479"/>
                </a:lnSpc>
              </a:pPr>
            </a:p>
            <a:p>
              <a:pPr algn="l">
                <a:lnSpc>
                  <a:spcPts val="4479"/>
                </a:lnSpc>
              </a:pPr>
            </a:p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Move</a:t>
              </a:r>
            </a:p>
          </p:txBody>
        </p:sp>
      </p:grpSp>
      <p:sp>
        <p:nvSpPr>
          <p:cNvPr name="AutoShape 7" id="7"/>
          <p:cNvSpPr/>
          <p:nvPr/>
        </p:nvSpPr>
        <p:spPr>
          <a:xfrm flipH="true">
            <a:off x="6286357" y="1918691"/>
            <a:ext cx="11324267" cy="0"/>
          </a:xfrm>
          <a:prstGeom prst="line">
            <a:avLst/>
          </a:prstGeom>
          <a:ln cap="rnd" w="19050">
            <a:solidFill>
              <a:srgbClr val="EADE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197636" y="1236671"/>
            <a:ext cx="5796098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60"/>
              </a:lnSpc>
              <a:spcBef>
                <a:spcPct val="0"/>
              </a:spcBef>
            </a:pPr>
            <a:r>
              <a:rPr lang="en-US" sz="8800">
                <a:solidFill>
                  <a:srgbClr val="FFFFFF"/>
                </a:solidFill>
                <a:latin typeface="RoxboroughCF"/>
                <a:ea typeface="RoxboroughCF"/>
                <a:cs typeface="RoxboroughCF"/>
                <a:sym typeface="RoxboroughCF"/>
              </a:rPr>
              <a:t>Wellness Tips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5490351" cy="2783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90351" cy="2783840"/>
            </a:xfrm>
            <a:custGeom>
              <a:avLst/>
              <a:gdLst/>
              <a:ahLst/>
              <a:cxnLst/>
              <a:rect r="r" b="b" t="t" l="l"/>
              <a:pathLst>
                <a:path h="2783840" w="5490351">
                  <a:moveTo>
                    <a:pt x="0" y="0"/>
                  </a:moveTo>
                  <a:lnTo>
                    <a:pt x="5490351" y="0"/>
                  </a:lnTo>
                  <a:lnTo>
                    <a:pt x="5490351" y="2783840"/>
                  </a:lnTo>
                  <a:lnTo>
                    <a:pt x="0" y="27838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13987" y="1028700"/>
            <a:ext cx="7345313" cy="3471136"/>
            <a:chOff x="0" y="0"/>
            <a:chExt cx="9793751" cy="4628182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0" t="14601" r="0" b="14601"/>
            <a:stretch>
              <a:fillRect/>
            </a:stretch>
          </p:blipFill>
          <p:spPr>
            <a:xfrm flipH="false" flipV="false">
              <a:off x="0" y="0"/>
              <a:ext cx="9793751" cy="4628182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2392076" y="5029200"/>
            <a:ext cx="6273370" cy="333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4428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Familiarize yourself with resources</a:t>
            </a:r>
          </a:p>
          <a:p>
            <a:pPr algn="l" marL="582932" indent="-291466" lvl="1">
              <a:lnSpc>
                <a:spcPts val="4428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Create a daily wellness routine</a:t>
            </a:r>
          </a:p>
          <a:p>
            <a:pPr algn="l" marL="582932" indent="-291466" lvl="1">
              <a:lnSpc>
                <a:spcPts val="4428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Join organizations</a:t>
            </a:r>
          </a:p>
          <a:p>
            <a:pPr algn="l" marL="582932" indent="-291466" lvl="1">
              <a:lnSpc>
                <a:spcPts val="4428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Strive for alignment </a:t>
            </a:r>
          </a:p>
          <a:p>
            <a:pPr algn="l" marL="582932" indent="-291466" lvl="1">
              <a:lnSpc>
                <a:spcPts val="4428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Visit the counseling center</a:t>
            </a:r>
          </a:p>
          <a:p>
            <a:pPr algn="l" marL="582932" indent="-291466" lvl="1">
              <a:lnSpc>
                <a:spcPts val="4428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Create community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13987" y="5029200"/>
            <a:ext cx="6273370" cy="333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4428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Connect with nature</a:t>
            </a:r>
          </a:p>
          <a:p>
            <a:pPr algn="l" marL="582932" indent="-291466" lvl="1">
              <a:lnSpc>
                <a:spcPts val="4428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Volunteer</a:t>
            </a:r>
          </a:p>
          <a:p>
            <a:pPr algn="l" marL="582932" indent="-291466" lvl="1">
              <a:lnSpc>
                <a:spcPts val="4428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Meet regularly with professors and advisors</a:t>
            </a:r>
          </a:p>
          <a:p>
            <a:pPr algn="l" marL="582932" indent="-291466" lvl="1">
              <a:lnSpc>
                <a:spcPts val="4428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Build in rest</a:t>
            </a:r>
          </a:p>
          <a:p>
            <a:pPr algn="l" marL="582932" indent="-291466" lvl="1">
              <a:lnSpc>
                <a:spcPts val="4428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Excellence over perfectionism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6386" y="1317975"/>
            <a:ext cx="7241166" cy="238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0"/>
              </a:lnSpc>
            </a:pPr>
            <a:r>
              <a:rPr lang="en-US" sz="821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College Wellness Tips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78231" y="2587514"/>
            <a:ext cx="7229740" cy="6163353"/>
          </a:xfrm>
          <a:custGeom>
            <a:avLst/>
            <a:gdLst/>
            <a:ahLst/>
            <a:cxnLst/>
            <a:rect r="r" b="b" t="t" l="l"/>
            <a:pathLst>
              <a:path h="6163353" w="7229740">
                <a:moveTo>
                  <a:pt x="0" y="0"/>
                </a:moveTo>
                <a:lnTo>
                  <a:pt x="7229740" y="0"/>
                </a:lnTo>
                <a:lnTo>
                  <a:pt x="7229740" y="6163353"/>
                </a:lnTo>
                <a:lnTo>
                  <a:pt x="0" y="6163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21221" y="535514"/>
            <a:ext cx="8668616" cy="9215972"/>
          </a:xfrm>
          <a:custGeom>
            <a:avLst/>
            <a:gdLst/>
            <a:ahLst/>
            <a:cxnLst/>
            <a:rect r="r" b="b" t="t" l="l"/>
            <a:pathLst>
              <a:path h="9215972" w="8668616">
                <a:moveTo>
                  <a:pt x="0" y="0"/>
                </a:moveTo>
                <a:lnTo>
                  <a:pt x="8668616" y="0"/>
                </a:lnTo>
                <a:lnTo>
                  <a:pt x="8668616" y="9215972"/>
                </a:lnTo>
                <a:lnTo>
                  <a:pt x="0" y="9215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40" t="0" r="-3165" b="-2710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40755" y="492874"/>
            <a:ext cx="8304693" cy="144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89"/>
              </a:lnSpc>
              <a:spcBef>
                <a:spcPct val="0"/>
              </a:spcBef>
            </a:pPr>
            <a:r>
              <a:rPr lang="en-US" sz="7492">
                <a:solidFill>
                  <a:srgbClr val="FFFFFF"/>
                </a:solidFill>
                <a:latin typeface="Crimson Roman"/>
                <a:ea typeface="Crimson Roman"/>
                <a:cs typeface="Crimson Roman"/>
                <a:sym typeface="Crimson Roman"/>
              </a:rPr>
              <a:t>STAY CONNECTED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DAHLcHRQhaI</dc:identifier>
  <dcterms:modified xsi:type="dcterms:W3CDTF">2011-08-01T06:04:30Z</dcterms:modified>
  <cp:revision>1</cp:revision>
  <dc:title>STARS @SLU</dc:title>
</cp:coreProperties>
</file>